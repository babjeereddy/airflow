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amreddybabjee@outlook.com" userId="3e261792aa522278" providerId="LiveId" clId="{E9D4DBD0-2B63-4DCE-A8A7-8959831F6408}"/>
    <pc:docChg chg="modSld">
      <pc:chgData name="ponnamreddybabjee@outlook.com" userId="3e261792aa522278" providerId="LiveId" clId="{E9D4DBD0-2B63-4DCE-A8A7-8959831F6408}" dt="2026-03-13T04:20:58.722" v="0" actId="478"/>
      <pc:docMkLst>
        <pc:docMk/>
      </pc:docMkLst>
      <pc:sldChg chg="delSp">
        <pc:chgData name="ponnamreddybabjee@outlook.com" userId="3e261792aa522278" providerId="LiveId" clId="{E9D4DBD0-2B63-4DCE-A8A7-8959831F6408}" dt="2026-03-13T04:20:58.722" v="0" actId="478"/>
        <pc:sldMkLst>
          <pc:docMk/>
          <pc:sldMk cId="1630340392" sldId="258"/>
        </pc:sldMkLst>
        <pc:picChg chg="del">
          <ac:chgData name="ponnamreddybabjee@outlook.com" userId="3e261792aa522278" providerId="LiveId" clId="{E9D4DBD0-2B63-4DCE-A8A7-8959831F6408}" dt="2026-03-13T04:20:58.722" v="0" actId="478"/>
          <ac:picMkLst>
            <pc:docMk/>
            <pc:sldMk cId="1630340392" sldId="258"/>
            <ac:picMk id="1025" creationId="{F814865D-63BC-FC1D-0BC6-5FB60CEB122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34824-8E64-C4A7-4799-5AFF522E1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Airflow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504E5-1DD7-C04A-859E-97A472C3B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75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6BBC48-45F5-5573-AE7E-5DDA76CDE205}"/>
              </a:ext>
            </a:extLst>
          </p:cNvPr>
          <p:cNvSpPr txBox="1"/>
          <p:nvPr/>
        </p:nvSpPr>
        <p:spPr>
          <a:xfrm>
            <a:off x="448574" y="646982"/>
            <a:ext cx="11533517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monaSans"/>
              </a:rPr>
              <a:t>What is "Workflow Orchestration"?</a:t>
            </a:r>
          </a:p>
          <a:p>
            <a:pPr algn="l"/>
            <a:r>
              <a:rPr lang="en-US" b="0" i="0" dirty="0">
                <a:effectLst/>
                <a:latin typeface="Arial" panose="020B0604020202020204" pitchFamily="34" charset="0"/>
              </a:rPr>
              <a:t>	Workflow orchestration is the </a:t>
            </a:r>
            <a:r>
              <a:rPr lang="en-US" b="1" i="0" dirty="0">
                <a:effectLst/>
                <a:latin typeface="Arial" panose="020B0604020202020204" pitchFamily="34" charset="0"/>
              </a:rPr>
              <a:t>coordination and management of various tasks, processes, and 	systems</a:t>
            </a:r>
            <a:r>
              <a:rPr lang="en-US" b="0" i="0" dirty="0">
                <a:effectLst/>
                <a:latin typeface="Arial" panose="020B0604020202020204" pitchFamily="34" charset="0"/>
              </a:rPr>
              <a:t> within an organization to achieve a specific outcome</a:t>
            </a:r>
            <a:br>
              <a:rPr lang="en-US" b="0" i="0" dirty="0">
                <a:effectLst/>
                <a:latin typeface="Inter"/>
              </a:rPr>
            </a:br>
            <a:endParaRPr lang="en-US" b="0" i="0" dirty="0">
              <a:effectLst/>
              <a:latin typeface="Inter"/>
            </a:endParaRPr>
          </a:p>
          <a:p>
            <a:pPr algn="l"/>
            <a:endParaRPr lang="en-US" dirty="0">
              <a:latin typeface="Inter"/>
            </a:endParaRPr>
          </a:p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Key Points:</a:t>
            </a:r>
            <a:endParaRPr lang="en-US" b="0" i="0" dirty="0">
              <a:effectLst/>
              <a:latin typeface="Inter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Data pipelines involve many steps (Extract, Clean, Load, Analyze).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These steps have </a:t>
            </a:r>
            <a:r>
              <a:rPr lang="en-US" b="1" i="0" dirty="0">
                <a:effectLst/>
                <a:latin typeface="Inter"/>
              </a:rPr>
              <a:t>Dependencies</a:t>
            </a:r>
            <a:r>
              <a:rPr lang="en-US" b="0" i="0" dirty="0">
                <a:effectLst/>
                <a:latin typeface="Inter"/>
              </a:rPr>
              <a:t> (Step B cannot start until Step A finishes).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Scripts (Cron) are hard to manage when they fail.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Orchestration</a:t>
            </a:r>
            <a:r>
              <a:rPr lang="en-US" b="0" i="0" dirty="0">
                <a:effectLst/>
                <a:latin typeface="Inter"/>
              </a:rPr>
              <a:t> manages the dependencies, scheduling, retries, and monitoring.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latin typeface="Inter"/>
            </a:endParaRPr>
          </a:p>
          <a:p>
            <a:pPr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Before Airflow, engineers used "Cron jobs" (simple timers). But Cron doesn't know if the previous job failed. Airflow builds a "family tree" of tasks so it knows exactly what to do if something breaks.</a:t>
            </a:r>
          </a:p>
        </p:txBody>
      </p:sp>
    </p:spTree>
    <p:extLst>
      <p:ext uri="{BB962C8B-B14F-4D97-AF65-F5344CB8AC3E}">
        <p14:creationId xmlns:p14="http://schemas.microsoft.com/office/powerpoint/2010/main" val="1227176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6BBC48-45F5-5573-AE7E-5DDA76CDE205}"/>
              </a:ext>
            </a:extLst>
          </p:cNvPr>
          <p:cNvSpPr txBox="1"/>
          <p:nvPr/>
        </p:nvSpPr>
        <p:spPr>
          <a:xfrm>
            <a:off x="448574" y="646982"/>
            <a:ext cx="115335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What is Airflow</a:t>
            </a:r>
          </a:p>
          <a:p>
            <a:pPr algn="l">
              <a:spcBef>
                <a:spcPts val="600"/>
              </a:spcBef>
            </a:pPr>
            <a:r>
              <a:rPr lang="en-US" dirty="0">
                <a:latin typeface="Google Sans"/>
              </a:rPr>
              <a:t>Apache Airflow </a:t>
            </a:r>
            <a:r>
              <a:rPr lang="en-US" b="0" i="0" dirty="0">
                <a:effectLst/>
                <a:latin typeface="Google Sans"/>
              </a:rPr>
              <a:t>is </a:t>
            </a:r>
            <a:r>
              <a:rPr lang="en-US" dirty="0"/>
              <a:t>an open-source platform used by data engineers to programmatically author, schedule, and monitor complex data pipelines and workflows</a:t>
            </a:r>
            <a:r>
              <a:rPr lang="en-US" b="0" i="0" dirty="0">
                <a:effectLst/>
                <a:latin typeface="Google Sans"/>
              </a:rPr>
              <a:t>. 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Why Apache Airflow?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Pipelines as Code:</a:t>
            </a:r>
            <a:r>
              <a:rPr lang="en-US" b="0" i="0" dirty="0">
                <a:effectLst/>
                <a:latin typeface="Inter"/>
              </a:rPr>
              <a:t> Workflows are defined in Python (dynamic and </a:t>
            </a:r>
            <a:r>
              <a:rPr lang="en-US" b="0" i="0" dirty="0" err="1">
                <a:effectLst/>
                <a:latin typeface="Inter"/>
              </a:rPr>
              <a:t>versionable</a:t>
            </a:r>
            <a:r>
              <a:rPr lang="en-US" b="0" i="0" dirty="0">
                <a:effectLst/>
                <a:latin typeface="Inter"/>
              </a:rPr>
              <a:t>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Scalable:</a:t>
            </a:r>
            <a:r>
              <a:rPr lang="en-US" b="0" i="0" dirty="0">
                <a:effectLst/>
                <a:latin typeface="Inter"/>
              </a:rPr>
              <a:t> Can run one task or thousands.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Extensible:</a:t>
            </a:r>
            <a:r>
              <a:rPr lang="en-US" b="0" i="0" dirty="0">
                <a:effectLst/>
                <a:latin typeface="Inter"/>
              </a:rPr>
              <a:t> Connects to almost any system (AWS, Azure, Google, SQL, Slack).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UI (User Interface):</a:t>
            </a:r>
            <a:r>
              <a:rPr lang="en-US" b="0" i="0" dirty="0">
                <a:effectLst/>
                <a:latin typeface="Inter"/>
              </a:rPr>
              <a:t> Visual monitoring to see what succeeded or failed.</a:t>
            </a:r>
          </a:p>
          <a:p>
            <a:pPr algn="l"/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63034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6BBC48-45F5-5573-AE7E-5DDA76CDE205}"/>
              </a:ext>
            </a:extLst>
          </p:cNvPr>
          <p:cNvSpPr txBox="1"/>
          <p:nvPr/>
        </p:nvSpPr>
        <p:spPr>
          <a:xfrm>
            <a:off x="448574" y="646982"/>
            <a:ext cx="11533517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The 4 Main Components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Webserver:</a:t>
            </a:r>
            <a:r>
              <a:rPr lang="en-US" b="0" i="0" dirty="0">
                <a:effectLst/>
                <a:latin typeface="Inter"/>
              </a:rPr>
              <a:t> The UI you see in the browser.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Scheduler:</a:t>
            </a:r>
            <a:r>
              <a:rPr lang="en-US" b="0" i="0" dirty="0">
                <a:effectLst/>
                <a:latin typeface="Inter"/>
              </a:rPr>
              <a:t> The "Brain." It decides </a:t>
            </a:r>
            <a:r>
              <a:rPr lang="en-US" b="0" i="1" dirty="0">
                <a:effectLst/>
                <a:latin typeface="Inter"/>
              </a:rPr>
              <a:t>when</a:t>
            </a:r>
            <a:r>
              <a:rPr lang="en-US" b="0" i="0" dirty="0">
                <a:effectLst/>
                <a:latin typeface="Inter"/>
              </a:rPr>
              <a:t> things run.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Metadata Database:</a:t>
            </a:r>
            <a:r>
              <a:rPr lang="en-US" b="0" i="0" dirty="0">
                <a:effectLst/>
                <a:latin typeface="Inter"/>
              </a:rPr>
              <a:t> The "Memory." Stores the status of every task (Queued, Running, Failed).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Executor:</a:t>
            </a:r>
            <a:r>
              <a:rPr lang="en-US" b="0" i="0" dirty="0">
                <a:effectLst/>
                <a:latin typeface="Inter"/>
              </a:rPr>
              <a:t> The "Muscle." It creates the worker processes that actually do the work.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endParaRPr lang="en-US" dirty="0">
              <a:latin typeface="Inter"/>
            </a:endParaRPr>
          </a:p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How a Task Gets Executed (The Flow)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Scheduler</a:t>
            </a:r>
            <a:r>
              <a:rPr lang="en-US" b="0" i="0" dirty="0">
                <a:effectLst/>
                <a:latin typeface="Inter"/>
              </a:rPr>
              <a:t> reads the DAG file.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Scheduler</a:t>
            </a:r>
            <a:r>
              <a:rPr lang="en-US" b="0" i="0" dirty="0">
                <a:effectLst/>
                <a:latin typeface="Inter"/>
              </a:rPr>
              <a:t> checks the time and dependencies.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Scheduler</a:t>
            </a:r>
            <a:r>
              <a:rPr lang="en-US" b="0" i="0" dirty="0">
                <a:effectLst/>
                <a:latin typeface="Inter"/>
              </a:rPr>
              <a:t> changes task status to "Scheduled" in the Database.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Executor</a:t>
            </a:r>
            <a:r>
              <a:rPr lang="en-US" b="0" i="0" dirty="0">
                <a:effectLst/>
                <a:latin typeface="Inter"/>
              </a:rPr>
              <a:t> sees the "Scheduled" task and picks it up.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Worker</a:t>
            </a:r>
            <a:r>
              <a:rPr lang="en-US" b="0" i="0" dirty="0">
                <a:effectLst/>
                <a:latin typeface="Inter"/>
              </a:rPr>
              <a:t> runs the code and updates the Database to "Success" or "Failed."</a:t>
            </a:r>
          </a:p>
          <a:p>
            <a:endParaRPr lang="en-US" b="0" i="0" dirty="0">
              <a:effectLst/>
              <a:latin typeface="Inter"/>
            </a:endParaRPr>
          </a:p>
          <a:p>
            <a:pPr algn="l"/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55775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6BBC48-45F5-5573-AE7E-5DDA76CDE205}"/>
              </a:ext>
            </a:extLst>
          </p:cNvPr>
          <p:cNvSpPr txBox="1"/>
          <p:nvPr/>
        </p:nvSpPr>
        <p:spPr>
          <a:xfrm>
            <a:off x="439948" y="543465"/>
            <a:ext cx="11533517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What is a DAG?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D</a:t>
            </a:r>
            <a:r>
              <a:rPr lang="en-US" b="0" i="0" dirty="0">
                <a:effectLst/>
                <a:latin typeface="Inter"/>
              </a:rPr>
              <a:t>irected: The workflow moves forward (A → B → C).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A</a:t>
            </a:r>
            <a:r>
              <a:rPr lang="en-US" b="0" i="0" dirty="0">
                <a:effectLst/>
                <a:latin typeface="Inter"/>
              </a:rPr>
              <a:t>cyclic: No infinite loops (A cannot point back to A).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G</a:t>
            </a:r>
            <a:r>
              <a:rPr lang="en-US" b="0" i="0" dirty="0">
                <a:effectLst/>
                <a:latin typeface="Inter"/>
              </a:rPr>
              <a:t>raph: A collection of nodes (tasks) and edges (dependencies).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 DAG is the "Recipe" for the whole pipeline.</a:t>
            </a:r>
          </a:p>
          <a:p>
            <a:pPr>
              <a:spcBef>
                <a:spcPts val="600"/>
              </a:spcBef>
            </a:pPr>
            <a:r>
              <a:rPr lang="en-IN" b="1" i="0" dirty="0">
                <a:effectLst/>
                <a:latin typeface="monaSans"/>
              </a:rPr>
              <a:t>Operators (The "Do-</a:t>
            </a:r>
            <a:r>
              <a:rPr lang="en-IN" b="1" i="0" dirty="0" err="1">
                <a:effectLst/>
                <a:latin typeface="monaSans"/>
              </a:rPr>
              <a:t>ers</a:t>
            </a:r>
            <a:r>
              <a:rPr lang="en-IN" b="1" i="0" dirty="0">
                <a:effectLst/>
                <a:latin typeface="monaSans"/>
              </a:rPr>
              <a:t>")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monaSans"/>
              </a:rPr>
              <a:t>An Operator is a template for a single task.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monaSans"/>
              </a:rPr>
              <a:t>It determines what actually gets done.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monaSans"/>
              </a:rPr>
              <a:t>Action Operators: Do something (e.g., </a:t>
            </a:r>
            <a:r>
              <a:rPr lang="en-US" i="0" dirty="0" err="1">
                <a:effectLst/>
                <a:latin typeface="monaSans"/>
              </a:rPr>
              <a:t>BashOperator</a:t>
            </a:r>
            <a:r>
              <a:rPr lang="en-US" i="0" dirty="0">
                <a:effectLst/>
                <a:latin typeface="monaSans"/>
              </a:rPr>
              <a:t>, </a:t>
            </a:r>
            <a:r>
              <a:rPr lang="en-US" i="0" dirty="0" err="1">
                <a:effectLst/>
                <a:latin typeface="monaSans"/>
              </a:rPr>
              <a:t>PythonOperator</a:t>
            </a:r>
            <a:r>
              <a:rPr lang="en-US" i="0" dirty="0">
                <a:effectLst/>
                <a:latin typeface="monaSans"/>
              </a:rPr>
              <a:t>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monaSans"/>
              </a:rPr>
              <a:t>Transfer Operators: Move data (e.g., S3ToRedshiftOperator).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monaSans"/>
              </a:rPr>
              <a:t>Sensor Operators: Wait for something (e.g., </a:t>
            </a:r>
            <a:r>
              <a:rPr lang="en-US" i="0" dirty="0" err="1">
                <a:effectLst/>
                <a:latin typeface="monaSans"/>
              </a:rPr>
              <a:t>FileSensor</a:t>
            </a:r>
            <a:r>
              <a:rPr lang="en-US" i="0" dirty="0">
                <a:effectLst/>
                <a:latin typeface="monaSans"/>
              </a:rPr>
              <a:t>).</a:t>
            </a:r>
            <a:endParaRPr lang="en-IN" i="0" dirty="0">
              <a:effectLst/>
              <a:latin typeface="monaSans"/>
            </a:endParaRPr>
          </a:p>
          <a:p>
            <a:pPr>
              <a:spcBef>
                <a:spcPts val="600"/>
              </a:spcBef>
            </a:pPr>
            <a:endParaRPr lang="en-US" b="0" i="0" dirty="0">
              <a:effectLst/>
              <a:latin typeface="Inter"/>
            </a:endParaRPr>
          </a:p>
          <a:p>
            <a:pPr algn="l"/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70668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6BBC48-45F5-5573-AE7E-5DDA76CDE205}"/>
              </a:ext>
            </a:extLst>
          </p:cNvPr>
          <p:cNvSpPr txBox="1"/>
          <p:nvPr/>
        </p:nvSpPr>
        <p:spPr>
          <a:xfrm>
            <a:off x="329241" y="138023"/>
            <a:ext cx="11533517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Dependencies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Upstream: The task that runs before (The Parent).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Downstream: The task that runs after (The Child).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Inter"/>
              </a:rPr>
              <a:t>Bitshift</a:t>
            </a:r>
            <a:r>
              <a:rPr lang="en-US" b="0" i="0" dirty="0">
                <a:effectLst/>
                <a:latin typeface="Inter"/>
              </a:rPr>
              <a:t> Operator: The &gt;&gt; symbol used to connect them.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Upstream fails, Downstream will not run (by default).</a:t>
            </a:r>
          </a:p>
          <a:p>
            <a:pPr algn="l"/>
            <a:endParaRPr lang="en-IN" b="1" i="0" dirty="0">
              <a:effectLst/>
              <a:latin typeface="monaSans"/>
            </a:endParaRPr>
          </a:p>
          <a:p>
            <a:pPr algn="l"/>
            <a:r>
              <a:rPr lang="en-IN" b="1" i="0" dirty="0">
                <a:effectLst/>
                <a:latin typeface="monaSans"/>
              </a:rPr>
              <a:t>Sensors (The "Waiters")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 special type of Operator designed to </a:t>
            </a:r>
            <a:r>
              <a:rPr lang="en-US" b="1" i="0" dirty="0">
                <a:effectLst/>
                <a:latin typeface="Inter"/>
              </a:rPr>
              <a:t>wait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It checks for a condition (Is the file there? Is the database row ready?)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Poke Mode:</a:t>
            </a:r>
            <a:r>
              <a:rPr lang="en-US" b="0" i="0" dirty="0">
                <a:effectLst/>
                <a:latin typeface="Inter"/>
              </a:rPr>
              <a:t> Checks, sleeps, checks, sleeps (occupies a worker slot).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Reschedule Mode:</a:t>
            </a:r>
            <a:r>
              <a:rPr lang="en-US" b="0" i="0" dirty="0">
                <a:effectLst/>
                <a:latin typeface="Inter"/>
              </a:rPr>
              <a:t> Checks, frees up the worker, and schedules a check for later (resource efficient).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latin typeface="Inter"/>
            </a:endParaRPr>
          </a:p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 Hooks (The Connectors)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Operators define </a:t>
            </a:r>
            <a:r>
              <a:rPr lang="en-US" b="0" i="1" dirty="0">
                <a:effectLst/>
                <a:latin typeface="Inter"/>
              </a:rPr>
              <a:t>what</a:t>
            </a:r>
            <a:r>
              <a:rPr lang="en-US" b="0" i="0" dirty="0">
                <a:effectLst/>
                <a:latin typeface="Inter"/>
              </a:rPr>
              <a:t> to do. Hooks define </a:t>
            </a:r>
            <a:r>
              <a:rPr lang="en-US" b="0" i="1" dirty="0">
                <a:effectLst/>
                <a:latin typeface="Inter"/>
              </a:rPr>
              <a:t>how</a:t>
            </a:r>
            <a:r>
              <a:rPr lang="en-US" b="0" i="0" dirty="0">
                <a:effectLst/>
                <a:latin typeface="Inter"/>
              </a:rPr>
              <a:t> to connect.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Hooks manage the credentials (passwords, hosts, ports).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They abstract the low-level API connection logic.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Security:</a:t>
            </a:r>
            <a:r>
              <a:rPr lang="en-US" b="0" i="0" dirty="0">
                <a:effectLst/>
                <a:latin typeface="Inter"/>
              </a:rPr>
              <a:t> Passwords are stored in "Connections," not in the code.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Inter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Inter"/>
            </a:endParaRPr>
          </a:p>
          <a:p>
            <a:pPr algn="l"/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232306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6BBC48-45F5-5573-AE7E-5DDA76CDE205}"/>
              </a:ext>
            </a:extLst>
          </p:cNvPr>
          <p:cNvSpPr txBox="1"/>
          <p:nvPr/>
        </p:nvSpPr>
        <p:spPr>
          <a:xfrm>
            <a:off x="329241" y="543464"/>
            <a:ext cx="1153351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 Hooks (The Connectors)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Operators define </a:t>
            </a:r>
            <a:r>
              <a:rPr lang="en-US" b="0" i="1" dirty="0">
                <a:effectLst/>
                <a:latin typeface="Inter"/>
              </a:rPr>
              <a:t>what</a:t>
            </a:r>
            <a:r>
              <a:rPr lang="en-US" b="0" i="0" dirty="0">
                <a:effectLst/>
                <a:latin typeface="Inter"/>
              </a:rPr>
              <a:t> to do. Hooks define </a:t>
            </a:r>
            <a:r>
              <a:rPr lang="en-US" b="0" i="1" dirty="0">
                <a:effectLst/>
                <a:latin typeface="Inter"/>
              </a:rPr>
              <a:t>how</a:t>
            </a:r>
            <a:r>
              <a:rPr lang="en-US" b="0" i="0" dirty="0">
                <a:effectLst/>
                <a:latin typeface="Inter"/>
              </a:rPr>
              <a:t> to connect.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Hooks manage the credentials (passwords, hosts, ports).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They abstract the low-level API connection logic.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Security:</a:t>
            </a:r>
            <a:r>
              <a:rPr lang="en-US" b="0" i="0" dirty="0">
                <a:effectLst/>
                <a:latin typeface="Inter"/>
              </a:rPr>
              <a:t> Passwords are stored in "Connections," not in the code.</a:t>
            </a:r>
          </a:p>
          <a:p>
            <a:pPr lvl="1">
              <a:spcBef>
                <a:spcPts val="600"/>
              </a:spcBef>
            </a:pPr>
            <a:endParaRPr lang="en-US" dirty="0">
              <a:latin typeface="Inter"/>
            </a:endParaRPr>
          </a:p>
          <a:p>
            <a:pPr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Backfill and Catchup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Start Date: The specific date Airflow starts scheduling from.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Catchup: If you create a DAG today with a Start Date of 1 month ago...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Catchup=True: Airflow will run 30 times immediately to fill the history.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Catchup=False: Airflow will ignore the past and only run for today onwards.</a:t>
            </a:r>
          </a:p>
          <a:p>
            <a:pPr algn="l"/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59918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{F75D7499-CD06-4FEF-963B-B36B3B58FFCE}TFb5ae2469-0bae-4978-b0e0-39dd046150ff9a115ede-a9c3cc5252b0</Template>
  <TotalTime>200</TotalTime>
  <Words>739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Inter</vt:lpstr>
      <vt:lpstr>monaSans</vt:lpstr>
      <vt:lpstr>Celestial</vt:lpstr>
      <vt:lpstr>Airflow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1</cp:revision>
  <dcterms:created xsi:type="dcterms:W3CDTF">2026-03-12T09:59:54Z</dcterms:created>
  <dcterms:modified xsi:type="dcterms:W3CDTF">2026-03-13T07:14:42Z</dcterms:modified>
</cp:coreProperties>
</file>